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5023" y="770891"/>
            <a:ext cx="28363" cy="2836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03441" y="2038357"/>
            <a:ext cx="23146" cy="23146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58556" y="1944717"/>
            <a:ext cx="17144" cy="1714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26427" y="504272"/>
            <a:ext cx="18118" cy="1811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98053" y="2996184"/>
            <a:ext cx="18723" cy="1872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72281" y="2339729"/>
            <a:ext cx="33790" cy="3379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72429" y="1580128"/>
            <a:ext cx="34312" cy="34312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23063" y="3100260"/>
            <a:ext cx="21755" cy="2175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26723" y="662073"/>
            <a:ext cx="22100" cy="2210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15544" y="869242"/>
            <a:ext cx="27095" cy="2709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64596" y="1500193"/>
            <a:ext cx="26476" cy="26476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73448" y="470517"/>
            <a:ext cx="20225" cy="2022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93576" y="1681885"/>
            <a:ext cx="22204" cy="2220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98728" y="1766130"/>
            <a:ext cx="21941" cy="2194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47934" y="2575297"/>
            <a:ext cx="20923" cy="2092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4100" y="2003182"/>
            <a:ext cx="32463" cy="3246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46056" y="1222165"/>
            <a:ext cx="34384" cy="3438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5301" y="1650713"/>
            <a:ext cx="30305" cy="3030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50753" y="1883908"/>
            <a:ext cx="17176" cy="17176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55696" y="2791164"/>
            <a:ext cx="26938" cy="2693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00065" y="1307126"/>
            <a:ext cx="29174" cy="2917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26112" y="2183242"/>
            <a:ext cx="24802" cy="24802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9666" y="3384059"/>
            <a:ext cx="25129" cy="2512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43062" y="474034"/>
            <a:ext cx="29288" cy="2928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90137" y="3543432"/>
            <a:ext cx="31490" cy="3149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63036" y="1544283"/>
            <a:ext cx="28687" cy="28687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48387" y="1794147"/>
            <a:ext cx="19532" cy="19532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2286" y="468388"/>
            <a:ext cx="30508" cy="3050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80353" y="1089428"/>
            <a:ext cx="23608" cy="2360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487456" y="539580"/>
            <a:ext cx="24673" cy="2467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86426" y="3182278"/>
            <a:ext cx="31442" cy="31442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64333" y="1190837"/>
            <a:ext cx="24054" cy="2405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893645" y="3184941"/>
            <a:ext cx="33974" cy="3397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47447" y="854400"/>
            <a:ext cx="20701" cy="2070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03672" y="1870739"/>
            <a:ext cx="27233" cy="2723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595108" y="287795"/>
            <a:ext cx="24120" cy="2412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26234" y="2138624"/>
            <a:ext cx="33889" cy="3388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24957" y="1971235"/>
            <a:ext cx="27753" cy="2775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80519" y="452055"/>
            <a:ext cx="32909" cy="3290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203133" y="3153077"/>
            <a:ext cx="31050" cy="3105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98130" y="1587694"/>
            <a:ext cx="18352" cy="18352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50220" y="479229"/>
            <a:ext cx="17690" cy="1769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427276" y="808596"/>
            <a:ext cx="22678" cy="2267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941695" y="275087"/>
            <a:ext cx="19225" cy="1922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3688" y="1471265"/>
            <a:ext cx="16925" cy="1692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496504" y="2295736"/>
            <a:ext cx="19175" cy="1917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562499" y="1417870"/>
            <a:ext cx="23119" cy="2311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60151" y="3068884"/>
            <a:ext cx="34621" cy="3462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226982" y="1867026"/>
            <a:ext cx="18029" cy="1802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095937" y="1402222"/>
            <a:ext cx="21301" cy="2130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355118" y="805750"/>
            <a:ext cx="16881" cy="1688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734816" y="2013258"/>
            <a:ext cx="19140" cy="1914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66941" y="363339"/>
            <a:ext cx="26117" cy="26117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820361" y="3116247"/>
            <a:ext cx="29191" cy="2919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90036" y="1481437"/>
            <a:ext cx="19514" cy="1951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178164" y="2027528"/>
            <a:ext cx="30706" cy="30706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803155" y="1008537"/>
            <a:ext cx="31300" cy="3130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840335" y="3081037"/>
            <a:ext cx="31200" cy="3120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322404" y="2709863"/>
            <a:ext cx="20605" cy="2060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387558" y="1444775"/>
            <a:ext cx="16989" cy="1698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598932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1298448"/>
            <a:ext cx="640080" cy="5080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03504" y="603504"/>
            <a:ext cx="256032" cy="182880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58368" y="676656"/>
            <a:ext cx="34290" cy="34290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31520" y="676656"/>
            <a:ext cx="34290" cy="34290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04672" y="676656"/>
            <a:ext cx="34290" cy="34290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9848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0ADBF"/>
                </a:solidFill>
                <a:latin typeface="Segoe UI"/>
              </a:rPr>
              <a:t>SENTIMENT LAB  ·  NLP CAPSTONE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A7FF"/>
                </a:solidFill>
                <a:latin typeface="Segoe UI"/>
              </a:rPr>
              <a:t>ĐỒ ÁN TỐT NGHIỆP — MÔN XỬ LÝ NGÔN NGỮ TỰ NHIÊN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1874519"/>
            <a:ext cx="11155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300" b="1">
                <a:solidFill>
                  <a:srgbClr val="F1F5F9"/>
                </a:solidFill>
                <a:latin typeface="Segoe UI"/>
              </a:rPr>
              <a:t>PHÂN TÍCH CẢM XÚC ĐÁNH GIÁ NHÂN VIÊN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300" b="1">
                <a:solidFill>
                  <a:srgbClr val="F1F5F9"/>
                </a:solidFill>
                <a:latin typeface="Segoe UI"/>
              </a:rPr>
              <a:t>NGÀNH CÔNG NGHỆ THÔNG TIN TRÊN ITVIEC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3200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0ADBF"/>
                </a:solidFill>
                <a:latin typeface="Segoe UI"/>
              </a:rPr>
              <a:t>Machine Learning truyền thống · Stacking Ensemble · Deep Learning ViSoBERT · Explainable AI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3794760"/>
            <a:ext cx="7242048" cy="14173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39410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A7FF"/>
                </a:solidFill>
                <a:latin typeface="Segoe UI"/>
              </a:rPr>
              <a:t>GIẢNG VIÊN HƯỚNG DẪN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427024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1F5F9"/>
                </a:solidFill>
                <a:latin typeface="Segoe UI"/>
              </a:rPr>
              <a:t>Thầy Đặng Văn Thìn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46908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Khoa Công nghệ Thông tin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51959" y="394106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0E3A4"/>
                </a:solidFill>
                <a:latin typeface="Segoe UI"/>
              </a:rPr>
              <a:t>NHÓM THỰC HIỆN — NHÓM 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51959" y="4270248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A0ADBF"/>
                </a:solidFill>
                <a:latin typeface="Segoe UI"/>
              </a:rPr>
              <a:t>Hoàng Hôn  ·  Trưởng nhóm / Tech Lead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51959" y="4494276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A0ADBF"/>
                </a:solidFill>
                <a:latin typeface="Segoe UI"/>
              </a:rPr>
              <a:t>Văn Duy  ·  Data &amp; Research Specialist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51959" y="4718304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A0ADBF"/>
                </a:solidFill>
                <a:latin typeface="Segoe UI"/>
              </a:rPr>
              <a:t>Duy Khang  ·  Machine Learning Specialist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51959" y="4942332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A0ADBF"/>
                </a:solidFill>
                <a:latin typeface="Segoe UI"/>
              </a:rPr>
              <a:t>Thành Trung  ·  UI/UX &amp; Deployment Specialist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66760" y="3794760"/>
            <a:ext cx="1417320" cy="6629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03920" y="3867912"/>
            <a:ext cx="11430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7AA7FF"/>
                </a:solidFill>
                <a:latin typeface="Segoe UI"/>
              </a:rPr>
              <a:t>8.417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03920" y="4221988"/>
            <a:ext cx="114300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review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921240" y="3794760"/>
            <a:ext cx="1417320" cy="6629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058400" y="3867912"/>
            <a:ext cx="11430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0E3A4"/>
                </a:solidFill>
                <a:latin typeface="Segoe UI"/>
              </a:rPr>
              <a:t>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58400" y="4221988"/>
            <a:ext cx="114300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mô hình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366760" y="4594860"/>
            <a:ext cx="1417320" cy="6629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03920" y="4668012"/>
            <a:ext cx="11430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4D35E"/>
                </a:solidFill>
                <a:latin typeface="Segoe UI"/>
              </a:rPr>
              <a:t>0.5619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03920" y="5022088"/>
            <a:ext cx="114300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CV Macro F1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921240" y="4594860"/>
            <a:ext cx="1417320" cy="6629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058400" y="4668012"/>
            <a:ext cx="11430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994F"/>
                </a:solidFill>
                <a:latin typeface="Segoe UI"/>
              </a:rPr>
              <a:t>43/43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0" y="5022088"/>
            <a:ext cx="114300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unit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1 · ĐẶT VẤN ĐỀ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Bối cảnh &amp; Thách thức dữ liệu đánh giá ITviec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01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5778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57784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Bối cảnh &amp; Mục tiêu nghiên cứu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171700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10312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Review ứng viên/nhân viên trên ITviec </a:t>
            </a:r>
            <a:r>
              <a:rPr sz="1350" b="0">
                <a:solidFill>
                  <a:srgbClr val="F1F5F9"/>
                </a:solidFill>
                <a:latin typeface="Segoe UI"/>
              </a:rPr>
              <a:t>là nguồn tín hiệu quan trọng phản ánh văn hoá, đãi ngộ và môi trường làm việc thực tế của doanh nghiệp IT.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177540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10896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Mục tiêu: </a:t>
            </a:r>
            <a:r>
              <a:rPr sz="1350" b="0">
                <a:solidFill>
                  <a:srgbClr val="F1F5F9"/>
                </a:solidFill>
                <a:latin typeface="Segoe UI"/>
              </a:rPr>
              <a:t>tự động phân loại cảm xúc 3 lớp (Tích cực / Trung tính / Tiêu cực) từ văn bản đánh giá tiếng Việt.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909060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84048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So sánh có hệ thống </a:t>
            </a:r>
            <a:r>
              <a:rPr sz="1350" b="0">
                <a:solidFill>
                  <a:srgbClr val="F1F5F9"/>
                </a:solidFill>
                <a:latin typeface="Segoe UI"/>
              </a:rPr>
              <a:t>giữa ML cổ điển, Stacking Ensemble và Deep Learning Transformer (ViSoBERT).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640580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57200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Khai thác insight </a:t>
            </a:r>
            <a:r>
              <a:rPr sz="1350" b="0">
                <a:solidFill>
                  <a:srgbClr val="F1F5F9"/>
                </a:solidFill>
                <a:latin typeface="Segoe UI"/>
              </a:rPr>
              <a:t>theo từng doanh nghiệp để hỗ trợ phòng Nhân sự &amp; Ban quản lý ra quyết định.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508760"/>
            <a:ext cx="539496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508760"/>
            <a:ext cx="5394960" cy="457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65506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4 Thách thức kỹ thuật cốt lõi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4808" y="2075688"/>
            <a:ext cx="73152" cy="713232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7688" y="2075688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Mất cân bằng nghiêm trọng 11:1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238658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73.8% Tích cực vs 6.8% Tiêu cực — mô hình dễ "lười" đoán về lớp đa số.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4808" y="2916936"/>
            <a:ext cx="73152" cy="713232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2916936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Teencode &amp; thuật ngữ IT Anh-Việt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7688" y="322783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"ko", "cty", "OT", "leader", "benefit" xen lẫn trong cùng một câu.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64808" y="3758184"/>
            <a:ext cx="73152" cy="713232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3758184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Khen/chê đan xen trong 1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40690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Một đoạn văn vừa khen môi trường vừa chê lương — dễ gây nhiễu nhãn.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64808" y="4599432"/>
            <a:ext cx="73152" cy="713232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459943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Câu phủ định phức tạp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7688" y="491032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"không được thân thiện", "ít cơ hội học hỏi" — phủ định đảo cực tính từ vựng.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KIẾN TRÚC HỆ THỐNG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Sơ đồ pipeline tổng thể End-to-End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02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" y="2697480"/>
            <a:ext cx="54864" cy="169164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1. Thu thập dữ liệu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8.417 review ITviec đa công ty, kèm rating &amp; khía cạnh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988820" y="3415284"/>
            <a:ext cx="384048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2868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2868" y="2697480"/>
            <a:ext cx="54864" cy="1691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9172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2. Tiền xử lý 2 tầng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9172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Chuẩn hoá, Negation Scope, tách từ tiếng Việt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945636" y="3415284"/>
            <a:ext cx="384048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9684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9684" y="2697480"/>
            <a:ext cx="54864" cy="1691640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5988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3. Trích xuất đặc trưng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5988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TF-IDF 5.000 chiều + Lexicon cảm xúc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02452" y="3415284"/>
            <a:ext cx="384048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86500" y="2697480"/>
            <a:ext cx="54864" cy="1691640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2804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4. Mô hình hoá ML/DL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2804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4 baseline · Stacking Ensemble · ViSoBERT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59268" y="3415284"/>
            <a:ext cx="384048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43316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43316" y="2697480"/>
            <a:ext cx="54864" cy="169164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9620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5. Hybrid Decision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9620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Kết hợp xác suất ML + tri thức từ điển miền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816084" y="3415284"/>
            <a:ext cx="384048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200132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00132" y="2697480"/>
            <a:ext cx="54864" cy="169164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46436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6. Web App &amp; XAI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46436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Streamlit demo, dự đoán realtime, giải thích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0ADBF"/>
                </a:solidFill>
                <a:latin typeface="Segoe UI"/>
              </a:rPr>
              <a:t>Toàn bộ pipeline được đóng gói dạng module tái sử dụng, kiểm chứng bằng 43/43 unit test — bảo đảm nhất quán giữa notebook nghiên cứu và ứng dụng Web.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800600"/>
            <a:ext cx="361188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4910328"/>
            <a:ext cx="3282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0E3A4"/>
                </a:solidFill>
                <a:latin typeface="Segoe UI"/>
              </a:rPr>
              <a:t>Tách biệt Train/CV/Final-Test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" y="522122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Final test chỉ mở khoá đúng 1 lần, chống rò rỉ dữ liệu.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8536" y="4800600"/>
            <a:ext cx="361188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53128" y="4910328"/>
            <a:ext cx="3282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0E3A4"/>
                </a:solidFill>
                <a:latin typeface="Segoe UI"/>
              </a:rPr>
              <a:t>2 pipeline tiền xử lý song song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53128" y="522122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clean_advance_text (ML) vs clean_text_for_transformer (DL).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74152" y="4800600"/>
            <a:ext cx="361188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38744" y="4910328"/>
            <a:ext cx="3282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0E3A4"/>
                </a:solidFill>
                <a:latin typeface="Segoe UI"/>
              </a:rPr>
              <a:t>Song song 2 mô hình trên UI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38744" y="522122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Radio chọn Text-only (5.000) hoặc Text+Lexicon (5.005) chiều.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2 · TIỀN XỬ LÝ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Pipeline tiền xử lý 2 tầng &amp; Negation Scope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03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4864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48640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Hai pipeline tiền xử lý độc lập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07568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0E3A4"/>
                </a:solidFill>
                <a:latin typeface="Segoe UI"/>
              </a:rPr>
              <a:t>clean_advance_text()  →  dùng cho ML cổ điển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" y="2459736"/>
            <a:ext cx="64008" cy="64008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4048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Chuẩn hoá Unicode NFC</a:t>
            </a:r>
          </a:p>
        </p:txBody>
      </p:sp>
      <p:sp>
        <p:nvSpPr>
          <p:cNvPr id="20" name="Oval 19"/>
          <p:cNvSpPr/>
          <p:nvPr/>
        </p:nvSpPr>
        <p:spPr>
          <a:xfrm>
            <a:off x="722376" y="2770632"/>
            <a:ext cx="64008" cy="64008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27157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Emoji → từ ngữ sắc thái</a:t>
            </a:r>
          </a:p>
        </p:txBody>
      </p:sp>
      <p:sp>
        <p:nvSpPr>
          <p:cNvPr id="22" name="Oval 21"/>
          <p:cNvSpPr/>
          <p:nvPr/>
        </p:nvSpPr>
        <p:spPr>
          <a:xfrm>
            <a:off x="722376" y="3081528"/>
            <a:ext cx="64008" cy="64008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02666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Chuẩn hoá teencode &amp; thuật ngữ IT</a:t>
            </a:r>
          </a:p>
        </p:txBody>
      </p:sp>
      <p:sp>
        <p:nvSpPr>
          <p:cNvPr id="24" name="Oval 23"/>
          <p:cNvSpPr/>
          <p:nvPr/>
        </p:nvSpPr>
        <p:spPr>
          <a:xfrm>
            <a:off x="722376" y="3392424"/>
            <a:ext cx="64008" cy="64008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3375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Tách từ (underthesea) + Greedy Matching 99.75%</a:t>
            </a:r>
          </a:p>
        </p:txBody>
      </p:sp>
      <p:sp>
        <p:nvSpPr>
          <p:cNvPr id="26" name="Oval 25"/>
          <p:cNvSpPr/>
          <p:nvPr/>
        </p:nvSpPr>
        <p:spPr>
          <a:xfrm>
            <a:off x="722376" y="3703320"/>
            <a:ext cx="64008" cy="64008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36484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Loại stopword (giữ từ phủ định: chưa, thiếu, ít)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" y="4123944"/>
            <a:ext cx="5074920" cy="12700"/>
          </a:xfrm>
          <a:prstGeom prst="rect">
            <a:avLst/>
          </a:prstGeom>
          <a:solidFill>
            <a:srgbClr val="2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28853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AA7FF"/>
                </a:solidFill>
                <a:latin typeface="Segoe UI"/>
              </a:rPr>
              <a:t>clean_text_for_transformer()  →  dùng cho ViSoBERT</a:t>
            </a:r>
          </a:p>
        </p:txBody>
      </p:sp>
      <p:sp>
        <p:nvSpPr>
          <p:cNvPr id="30" name="Oval 29"/>
          <p:cNvSpPr/>
          <p:nvPr/>
        </p:nvSpPr>
        <p:spPr>
          <a:xfrm>
            <a:off x="722376" y="4672584"/>
            <a:ext cx="64008" cy="64008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46177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Chỉ chuẩn hoá Unicode &amp; khoảng trắng</a:t>
            </a:r>
          </a:p>
        </p:txBody>
      </p:sp>
      <p:sp>
        <p:nvSpPr>
          <p:cNvPr id="32" name="Oval 31"/>
          <p:cNvSpPr/>
          <p:nvPr/>
        </p:nvSpPr>
        <p:spPr>
          <a:xfrm>
            <a:off x="722376" y="4983480"/>
            <a:ext cx="64008" cy="64008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492861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Giữ nguyên cấu trúc câu, dấu câu, ngữ cảnh</a:t>
            </a:r>
          </a:p>
        </p:txBody>
      </p:sp>
      <p:sp>
        <p:nvSpPr>
          <p:cNvPr id="34" name="Oval 33"/>
          <p:cNvSpPr/>
          <p:nvPr/>
        </p:nvSpPr>
        <p:spPr>
          <a:xfrm>
            <a:off x="722376" y="5294376"/>
            <a:ext cx="64008" cy="64008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523951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Không tách từ / không lọc stopword — để tokenizer BPE tự xử lý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1508760"/>
            <a:ext cx="54864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1508760"/>
            <a:ext cx="5486400" cy="457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165506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Negation Scope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075688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0ADBF"/>
                </a:solidFill>
                <a:latin typeface="Segoe UI"/>
              </a:rPr>
              <a:t>Thuật toán quét cửa sổ phủ định (không, chưa, chẳng...) và đảo cực tính các từ cảm xúc nằm trong phạm vi ảnh hưởng.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73368" y="2761488"/>
            <a:ext cx="5074920" cy="1417320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2889504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688"/>
                </a:solidFill>
                <a:latin typeface="Segoe UI"/>
              </a:rPr>
              <a:t>VÍ DỤ THỰC TẾ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56248" y="316382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0ADBF"/>
                </a:solidFill>
                <a:latin typeface="Segoe UI"/>
              </a:rPr>
              <a:t>“... môi trường làm việc </a:t>
            </a:r>
            <a:r>
              <a:rPr sz="1300" b="1">
                <a:solidFill>
                  <a:srgbClr val="FF6677"/>
                </a:solidFill>
                <a:latin typeface="Segoe UI"/>
              </a:rPr>
              <a:t>không được </a:t>
            </a:r>
            <a:r>
              <a:rPr sz="1300" b="0">
                <a:solidFill>
                  <a:srgbClr val="A0ADBF"/>
                </a:solidFill>
                <a:latin typeface="Segoe UI"/>
              </a:rPr>
              <a:t>thân thiện ...”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6248" y="3602736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0ADBF"/>
                </a:solidFill>
                <a:latin typeface="Segoe UI"/>
              </a:rPr>
              <a:t>“thân thiện” (tích cực)  </a:t>
            </a:r>
            <a:r>
              <a:rPr sz="1200" b="0">
                <a:solidFill>
                  <a:srgbClr val="6B7688"/>
                </a:solidFill>
                <a:latin typeface="Segoe UI"/>
              </a:rPr>
              <a:t>→ trong cửa sổ phủ định →  </a:t>
            </a:r>
            <a:r>
              <a:rPr sz="1200" b="1">
                <a:solidFill>
                  <a:srgbClr val="FF6677"/>
                </a:solidFill>
                <a:latin typeface="Segoe UI"/>
              </a:rPr>
              <a:t>cực tính đảo ngược (tiêu cực)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73368" y="4361688"/>
            <a:ext cx="73152" cy="457200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56248" y="436168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1F5F9"/>
                </a:solidFill>
                <a:latin typeface="Segoe UI"/>
              </a:rPr>
              <a:t>Không có Negation Scope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56248" y="4608576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Nhận diện sai → gán nhãn Tích cực/Trung tính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73368" y="4928616"/>
            <a:ext cx="73152" cy="45720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6248" y="492861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1F5F9"/>
                </a:solidFill>
                <a:latin typeface="Segoe UI"/>
              </a:rPr>
              <a:t>Có Negation Scope + Hybrid 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6248" y="5175504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Nhận diện đúng → Tiêu cực (71.1%)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2 · KHÁM PHÁ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EDA — 8.417 review ITviec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04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3611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da_sentimen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618309"/>
            <a:ext cx="3355848" cy="18499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" y="5559552"/>
            <a:ext cx="33558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33A44"/>
                </a:solidFill>
                <a:latin typeface="Segoe UI"/>
              </a:rPr>
              <a:t>Phân bố nhãn: 73.8% Tích cực · 19.5% Trung tính · 6.8% Tiêu cực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1508760"/>
            <a:ext cx="3611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da_text_length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2916906"/>
            <a:ext cx="3355848" cy="125278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07408" y="5559552"/>
            <a:ext cx="33558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33A44"/>
                </a:solidFill>
                <a:latin typeface="Segoe UI"/>
              </a:rPr>
              <a:t>Phân bố độ dài văn bản đánh giá theo nhãn cảm xúc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5864" y="1508760"/>
            <a:ext cx="3611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da_aspect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083030"/>
            <a:ext cx="3355848" cy="29205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83880" y="5559552"/>
            <a:ext cx="33558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33A44"/>
                </a:solidFill>
                <a:latin typeface="Segoe UI"/>
              </a:rPr>
              <a:t>Tương quan giữa các khía cạnh đánh giá (Lương, Đào tạo, Quản lý...)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3 · THÍ NGHIỆM ĐỐI CHỨNG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Feature Ablation Study — Text vs. Text + Lexicon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05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64922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da_feature_ablation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778358"/>
            <a:ext cx="6236208" cy="3529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" y="5559552"/>
            <a:ext cx="62362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33A44"/>
                </a:solidFill>
                <a:latin typeface="Segoe UI"/>
              </a:rPr>
              <a:t>So sánh 5-fold Stratified CV Macro F1 giữa các nhóm đặc trưng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508760"/>
            <a:ext cx="2203704" cy="105156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581912"/>
            <a:ext cx="1929384" cy="301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0E3A4"/>
                </a:solidFill>
                <a:latin typeface="Segoe UI"/>
              </a:rPr>
              <a:t>0.5579 → 0.5658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920113"/>
            <a:ext cx="1929384" cy="585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CV Macro F1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Text-only → Text+Lexicon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6336" y="1508760"/>
            <a:ext cx="2203704" cy="105156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83496" y="1581912"/>
            <a:ext cx="1929384" cy="3333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994F"/>
                </a:solidFill>
                <a:latin typeface="Segoe UI"/>
              </a:rPr>
              <a:t>45.6% → 48.2%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3496" y="1951863"/>
            <a:ext cx="1929384" cy="5535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Recall lớp Tiêu cực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743200"/>
            <a:ext cx="4572000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8803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A7FF"/>
                </a:solidFill>
                <a:latin typeface="Segoe UI"/>
              </a:rPr>
              <a:t>5.005 CHIỀU ĐẶC TRƯNG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172968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TF-IDF (5.000 chiều n-gram 1-2) song song với 5 đặc trưng Lexicon cảm xúc domain IT, chuẩn hoá MinMaxScaler — cải thiện ổn định trên cả Macro F1 và Recall lớp thiểu số.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4572000"/>
            <a:ext cx="4572000" cy="1280160"/>
          </a:xfrm>
          <a:prstGeom prst="rect">
            <a:avLst/>
          </a:prstGeom>
          <a:solidFill>
            <a:srgbClr val="11161F"/>
          </a:solidFill>
          <a:ln w="12700">
            <a:solidFill>
              <a:srgbClr val="FF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47091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FF6677"/>
                </a:solidFill>
                <a:latin typeface="Segoe UI"/>
              </a:rPr>
              <a:t>⚠ VÌ SAO LOẠI BỎ ASPECT RATINGS?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5001768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A0ADBF"/>
                </a:solidFill>
                <a:latin typeface="Segoe UI"/>
              </a:rPr>
              <a:t>Dù Text+Aspect đạt Macro F1 0.7369, đặc trưng này gần trùng nhãn mục tiêu → rủi ro Data Shortcut, không phản ánh khả năng hiểu ngôn ngữ thật của mô hình.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3 · MÔ HÌNH HOÁ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4 Mô hình ML cơ sở &amp; Kỹ thuật Stacking Ensemble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06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1206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12064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4 mô hình nền tảng (class_weight='balanced')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2130552"/>
            <a:ext cx="4718304" cy="713232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2130552"/>
            <a:ext cx="64008" cy="713232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2402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Logistic 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53288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CV Macro F1 (GridSearchCV, 5-fold)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24028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7AA7FF"/>
                </a:solidFill>
                <a:latin typeface="Segoe UI"/>
              </a:rPr>
              <a:t>0.5567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2990088"/>
            <a:ext cx="4718304" cy="713232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" y="2990088"/>
            <a:ext cx="64008" cy="713232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09981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Linear SVM (Platt scaling)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392424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CV Macro F1 (GridSearchCV, 5-fold)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099816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50E3A4"/>
                </a:solidFill>
                <a:latin typeface="Segoe UI"/>
              </a:rPr>
              <a:t>0.5561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" y="3849624"/>
            <a:ext cx="4718304" cy="713232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" y="3849624"/>
            <a:ext cx="64008" cy="713232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9593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Random Forest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5196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CV Macro F1 (GridSearchCV, 5-fold)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959352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4D35E"/>
                </a:solidFill>
                <a:latin typeface="Segoe UI"/>
              </a:rPr>
              <a:t>0.5515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" y="4709160"/>
            <a:ext cx="4718304" cy="713232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" y="4709160"/>
            <a:ext cx="64008" cy="713232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1888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Multinomial Naive Bayes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1149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CV Macro F1 (GridSearchCV, 5-fold)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4818888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994F"/>
                </a:solidFill>
                <a:latin typeface="Segoe UI"/>
              </a:rPr>
              <a:t>0.4890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1508760"/>
            <a:ext cx="53492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1508760"/>
            <a:ext cx="5349240" cy="4572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1655064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Stacking Ensemble Classifier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210312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Kết hợp 3 base estimator tốt nhất (NB + LR + SVM); meta-classifier Logistic Regression tổng hợp dự đoán (StackingClassifier, cv=5).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2880360"/>
            <a:ext cx="1417320" cy="548640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2953512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1F5F9"/>
                </a:solidFill>
                <a:latin typeface="Segoe UI"/>
              </a:rPr>
              <a:t>Naive Bayes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80" y="2880360"/>
            <a:ext cx="1417320" cy="548640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80" y="2953512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1F5F9"/>
                </a:solidFill>
                <a:latin typeface="Segoe UI"/>
              </a:rPr>
              <a:t>Logistic Regression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38360" y="2880360"/>
            <a:ext cx="1417320" cy="548640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38360" y="2953512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1F5F9"/>
                </a:solidFill>
                <a:latin typeface="Segoe UI"/>
              </a:rPr>
              <a:t>Linear SVM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338060" y="3429000"/>
            <a:ext cx="1554480" cy="228600"/>
          </a:xfrm>
          <a:prstGeom prst="line">
            <a:avLst/>
          </a:prstGeom>
          <a:ln w="15240">
            <a:solidFill>
              <a:srgbClr val="242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892540" y="3429000"/>
            <a:ext cx="0" cy="228600"/>
          </a:xfrm>
          <a:prstGeom prst="line">
            <a:avLst/>
          </a:prstGeom>
          <a:ln w="15240">
            <a:solidFill>
              <a:srgbClr val="242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8892540" y="3429000"/>
            <a:ext cx="1554480" cy="228600"/>
          </a:xfrm>
          <a:prstGeom prst="line">
            <a:avLst/>
          </a:prstGeom>
          <a:ln w="15240">
            <a:solidFill>
              <a:srgbClr val="242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7703820" y="3657600"/>
            <a:ext cx="2377440" cy="548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03820" y="3730752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80B10"/>
                </a:solidFill>
                <a:latin typeface="Segoe UI"/>
              </a:rPr>
              <a:t>Meta: Logistic Regression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4526280"/>
            <a:ext cx="2377440" cy="914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60" y="4599432"/>
            <a:ext cx="210312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0E3A4"/>
                </a:solidFill>
                <a:latin typeface="Segoe UI"/>
              </a:rPr>
              <a:t>0.5619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5017008"/>
            <a:ext cx="2103120" cy="368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CV Macro F1 — tốt nhất trong 5 mô hình ML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4526280"/>
            <a:ext cx="2377440" cy="914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81160" y="4599432"/>
            <a:ext cx="210312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7AA7FF"/>
                </a:solidFill>
                <a:latin typeface="Segoe UI"/>
              </a:rPr>
              <a:t>0.7766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60" y="5017008"/>
            <a:ext cx="2103120" cy="368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Accuracy trên Final Test khoá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3 ·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Thử nghiệm ViSoBERT (Transformer) trên GPU Runpod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07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21208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212080" cy="45720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Kết quả Zero-shot trên Final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2103120"/>
            <a:ext cx="233172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176272"/>
            <a:ext cx="205740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994F"/>
                </a:solidFill>
                <a:latin typeface="Segoe UI"/>
              </a:rPr>
              <a:t>0.4036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593848"/>
            <a:ext cx="2057400" cy="41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Macro F1 (ViSoBERT)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2103120"/>
            <a:ext cx="233172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176272"/>
            <a:ext cx="205740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7AA7FF"/>
                </a:solidFill>
                <a:latin typeface="Segoe UI"/>
              </a:rPr>
              <a:t>65.36%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593848"/>
            <a:ext cx="2057400" cy="41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Accuracy tổng thể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" y="3246120"/>
            <a:ext cx="233172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319272"/>
            <a:ext cx="205740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0E3A4"/>
                </a:solidFill>
                <a:latin typeface="Segoe UI"/>
              </a:rPr>
              <a:t>75.44%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736848"/>
            <a:ext cx="2057400" cy="41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Recall lớp Tiêu cực (vượt Stacking)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3246120"/>
            <a:ext cx="233172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319272"/>
            <a:ext cx="205740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6677"/>
                </a:solidFill>
                <a:latin typeface="Segoe UI"/>
              </a:rPr>
              <a:t>4.88%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736848"/>
            <a:ext cx="2057400" cy="41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Recall lớp Trung tính (gần như không nhận ra)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43484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So với Stacking (Acc 0.7766, Macro F1 0.5475): ViSoBERT zero-shot yếu hơn tổng thể nhưng vượt trội ở khả năng phát hiện Tiêu cực — đánh đổi bằng việc bỏ sót gần hết lớp Trung tính.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508760"/>
            <a:ext cx="53492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1508760"/>
            <a:ext cx="5349240" cy="457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655064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Vì sao Tiền xử lý cổ điển "xung đột" với Transformer?</a:t>
            </a:r>
          </a:p>
        </p:txBody>
      </p:sp>
      <p:sp>
        <p:nvSpPr>
          <p:cNvPr id="33" name="Oval 32"/>
          <p:cNvSpPr/>
          <p:nvPr/>
        </p:nvSpPr>
        <p:spPr>
          <a:xfrm>
            <a:off x="6528816" y="2157984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11696" y="210312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Over-cleaning: </a:t>
            </a:r>
            <a:r>
              <a:rPr sz="1200" b="0">
                <a:solidFill>
                  <a:srgbClr val="A0ADBF"/>
                </a:solidFill>
                <a:latin typeface="Segoe UI"/>
              </a:rPr>
              <a:t>loại stopword/tách từ làm mất ngữ cảnh câu mà Self-Attention cần để học quan hệ giữa các từ.</a:t>
            </a:r>
          </a:p>
        </p:txBody>
      </p:sp>
      <p:sp>
        <p:nvSpPr>
          <p:cNvPr id="35" name="Oval 34"/>
          <p:cNvSpPr/>
          <p:nvPr/>
        </p:nvSpPr>
        <p:spPr>
          <a:xfrm>
            <a:off x="6528816" y="3054096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11696" y="299923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Tokenizer BPE riêng biệt: </a:t>
            </a:r>
            <a:r>
              <a:rPr sz="1200" b="0">
                <a:solidFill>
                  <a:srgbClr val="A0ADBF"/>
                </a:solidFill>
                <a:latin typeface="Segoe UI"/>
              </a:rPr>
              <a:t>ViSoBERT đã có subword tokenizer huấn luyện trên dữ liệu mạng xã hội — tiền xử lý thêm gây méo phân phối token.</a:t>
            </a:r>
          </a:p>
        </p:txBody>
      </p:sp>
      <p:sp>
        <p:nvSpPr>
          <p:cNvPr id="37" name="Oval 36"/>
          <p:cNvSpPr/>
          <p:nvPr/>
        </p:nvSpPr>
        <p:spPr>
          <a:xfrm>
            <a:off x="6528816" y="3950208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11696" y="3895344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Zero-shot, chưa fine-tune: </a:t>
            </a:r>
            <a:r>
              <a:rPr sz="1200" b="0">
                <a:solidFill>
                  <a:srgbClr val="A0ADBF"/>
                </a:solidFill>
                <a:latin typeface="Segoe UI"/>
              </a:rPr>
              <a:t>mô hình chưa được huấn luyện lại trên domain review IT nên chưa tối ưu cho bài toán 3 lớp.</a:t>
            </a:r>
          </a:p>
        </p:txBody>
      </p:sp>
      <p:sp>
        <p:nvSpPr>
          <p:cNvPr id="39" name="Oval 38"/>
          <p:cNvSpPr/>
          <p:nvPr/>
        </p:nvSpPr>
        <p:spPr>
          <a:xfrm>
            <a:off x="6528816" y="4846320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11696" y="4791456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Hạ tầng GPU Runpod: </a:t>
            </a:r>
            <a:r>
              <a:rPr sz="1200" b="0">
                <a:solidFill>
                  <a:srgbClr val="A0ADBF"/>
                </a:solidFill>
                <a:latin typeface="Segoe UI"/>
              </a:rPr>
              <a:t>phù hợp huấn luyện DL nhưng công đoạn fine-tune đầy đủ nằm ở hướng phát triển tiếp theo.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4 · KẾT QUẢ THỰC NGHIỆM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Bảng Leaderboard tổng hợp &amp; Ma trận nhầm lẫn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08 / 15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508760"/>
          <a:ext cx="5943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Mô hình</a:t>
                      </a:r>
                    </a:p>
                  </a:txBody>
                  <a:tcPr marL="73152" marR="73152" marT="36576" marB="36576" anchor="ctr"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CV Macro F1</a:t>
                      </a:r>
                    </a:p>
                  </a:txBody>
                  <a:tcPr marL="73152" marR="73152" marT="36576" marB="36576" anchor="ctr"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Final Test F1</a:t>
                      </a:r>
                    </a:p>
                  </a:txBody>
                  <a:tcPr marL="73152" marR="73152" marT="36576" marB="36576" anchor="ctr">
                    <a:solidFill>
                      <a:srgbClr val="11161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Stacking (NB+LR+SVM)</a:t>
                      </a:r>
                    </a:p>
                  </a:txBody>
                  <a:tcPr marL="73152" marR="73152" marT="36576" marB="36576" anchor="ctr">
                    <a:solidFill>
                      <a:srgbClr val="143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0.5619</a:t>
                      </a:r>
                    </a:p>
                  </a:txBody>
                  <a:tcPr marL="73152" marR="73152" marT="36576" marB="36576" anchor="ctr">
                    <a:solidFill>
                      <a:srgbClr val="143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0.5475</a:t>
                      </a:r>
                    </a:p>
                  </a:txBody>
                  <a:tcPr marL="73152" marR="73152" marT="36576" marB="36576" anchor="ctr">
                    <a:solidFill>
                      <a:srgbClr val="1433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0.5567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Linear SVM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0.5561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Random Forest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0.5515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ViSoBERT (zero-shot DL)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0.4036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Multinomial Naive Bayes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0.4890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450799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688"/>
                </a:solidFill>
                <a:latin typeface="Segoe UI"/>
              </a:rPr>
              <a:t>Final Test chỉ được mở khoá 1 lần cho mô hình đã chọn (Stacking) và benchmark ViSoBERT — tránh rò rỉ dữ liệu.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92040"/>
            <a:ext cx="5943600" cy="914400"/>
          </a:xfrm>
          <a:prstGeom prst="rect">
            <a:avLst/>
          </a:prstGeom>
          <a:solidFill>
            <a:srgbClr val="11161F"/>
          </a:solidFill>
          <a:ln w="12700">
            <a:solidFill>
              <a:srgbClr val="FF9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001768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994F"/>
                </a:solidFill>
                <a:latin typeface="Segoe UI"/>
              </a:rPr>
              <a:t>⚠ BẪY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276088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Accuracy 77.66% có vẻ cao, nhưng Macro F1 chỉ 0.5475 — do mô hình nghiêng mạnh về lớp Positive đa số (1.241/1.683 mẫu).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508760"/>
            <a:ext cx="5029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est_mode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892" y="1636776"/>
            <a:ext cx="4575657" cy="3813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03136" y="5559552"/>
            <a:ext cx="47731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33A44"/>
                </a:solidFill>
                <a:latin typeface="Segoe UI"/>
              </a:rPr>
              <a:t>Confusion Matrix — Stacking Classifier trên Final Test (1.683 mẫu)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4 · PHÂN TÍCH LỖI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Phân tích lỗi sai định tính &amp; Hybrid Decision 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09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4864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486400" cy="457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Case study: câu phủ định phức tạp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2075688"/>
            <a:ext cx="5074920" cy="1051560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203704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F1F5F9"/>
                </a:solidFill>
                <a:latin typeface="Segoe UI"/>
              </a:rPr>
              <a:t>“Môi trường làm việc không được thân thiện, đồng nghiệp không hỗ trợ và ít cơ hội học hỏi.”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" y="3310128"/>
            <a:ext cx="73152" cy="5029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31012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Không có Hybrid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57530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Dự đoán sai → Trung tính / Tích cực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3950208"/>
            <a:ext cx="73152" cy="50292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95020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Có Hybrid Decision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21538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Tiêu cực (71.1%) — bóc tách 3 cụm từ XAI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468172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A0ADBF"/>
                </a:solidFill>
                <a:latin typeface="Segoe UI"/>
              </a:rPr>
              <a:t>Các lỗi khác thường gặp: câu châm biếm, khen/chê đan xen trong cùng review, đánh giá Trung tính mập mờ giữa 2 cực.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08760"/>
            <a:ext cx="52578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508760"/>
            <a:ext cx="5257800" cy="4572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655064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Cơ chế Hybrid Decision Gate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1968" y="2057400"/>
            <a:ext cx="4846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egative_threshold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992" y="2185416"/>
            <a:ext cx="2948272" cy="18013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29984" y="4096512"/>
            <a:ext cx="45902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33A44"/>
                </a:solidFill>
                <a:latin typeface="Segoe UI"/>
              </a:rPr>
              <a:t>Độ nhạy ngưỡng xác suất P(Negative) trên Recall/Precision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45720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Nếu P(Tiêu cực) ≥ 0.30 theo mô hình ML → ưu tiên gán nhãn Tiêu cực, kết hợp tri thức từ điển miền IT (negation, từ khoá nhạy cảm) để hiệu chỉnh các trường hợp mô hình còn lưỡng lự.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1968" y="5440680"/>
            <a:ext cx="2331720" cy="6858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9128" y="5513832"/>
            <a:ext cx="20574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0E3A4"/>
                </a:solidFill>
                <a:latin typeface="Segoe UI"/>
              </a:rPr>
              <a:t>26.3%→35.1%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9128" y="5867908"/>
            <a:ext cx="2057400" cy="203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Recall Negative khi áp ngưỡng 0.30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5440680"/>
            <a:ext cx="2331720" cy="6858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5513832"/>
            <a:ext cx="20574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7AA7FF"/>
                </a:solidFill>
                <a:latin typeface="Segoe UI"/>
              </a:rPr>
              <a:t>+0.0032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5867908"/>
            <a:ext cx="2057400" cy="203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Macro F1 cải thiện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5 · INSIGHT DOANH NGHIỆP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Khám phá Insight cảm xúc ngành Công nghệ Thông tin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10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cloud_positiv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778508"/>
            <a:ext cx="2487168" cy="1243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" y="3273552"/>
            <a:ext cx="24871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33A44"/>
                </a:solidFill>
                <a:latin typeface="Segoe UI"/>
              </a:rPr>
              <a:t>WordCloud — Tích cực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0332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ordcloud_negative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973068"/>
            <a:ext cx="2487168" cy="12435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0936" y="5468112"/>
            <a:ext cx="24871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33A44"/>
                </a:solidFill>
                <a:latin typeface="Segoe UI"/>
              </a:rPr>
              <a:t>WordCloud — Tiêu cực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150876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ompany_fpt_software_sentimen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424" y="1636776"/>
            <a:ext cx="2745671" cy="1527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557016" y="3273552"/>
            <a:ext cx="3904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33A44"/>
                </a:solidFill>
                <a:latin typeface="Segoe UI"/>
              </a:rPr>
              <a:t>Phân bố cảm xúc — FPT Software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70332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ompany_nashtech_sentiment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6424" y="3831336"/>
            <a:ext cx="2745671" cy="1527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57016" y="5468112"/>
            <a:ext cx="3904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33A44"/>
                </a:solidFill>
                <a:latin typeface="Segoe UI"/>
              </a:rPr>
              <a:t>Phân bố cảm xúc — NashTech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508760"/>
            <a:ext cx="3977639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508760"/>
            <a:ext cx="3977639" cy="45720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1655064"/>
            <a:ext cx="3611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Chủ đề nổi bật theo sắc thái</a:t>
            </a:r>
          </a:p>
        </p:txBody>
      </p:sp>
      <p:sp>
        <p:nvSpPr>
          <p:cNvPr id="29" name="Oval 28"/>
          <p:cNvSpPr/>
          <p:nvPr/>
        </p:nvSpPr>
        <p:spPr>
          <a:xfrm>
            <a:off x="7991856" y="2157984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2103120"/>
            <a:ext cx="3429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Được khen nhiều nhất: </a:t>
            </a:r>
            <a:r>
              <a:rPr sz="1200" b="0">
                <a:solidFill>
                  <a:srgbClr val="A0ADBF"/>
                </a:solidFill>
                <a:latin typeface="Segoe UI"/>
              </a:rPr>
              <a:t>môi trường trẻ, đồng nghiệp thân thiện, công nghệ mới, lộ trình rõ ràng.</a:t>
            </a:r>
          </a:p>
        </p:txBody>
      </p:sp>
      <p:sp>
        <p:nvSpPr>
          <p:cNvPr id="31" name="Oval 30"/>
          <p:cNvSpPr/>
          <p:nvPr/>
        </p:nvSpPr>
        <p:spPr>
          <a:xfrm>
            <a:off x="7991856" y="3209544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3154680"/>
            <a:ext cx="3429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Bị phàn nàn nhiều nhất: </a:t>
            </a:r>
            <a:r>
              <a:rPr sz="1200" b="0">
                <a:solidFill>
                  <a:srgbClr val="A0ADBF"/>
                </a:solidFill>
                <a:latin typeface="Segoe UI"/>
              </a:rPr>
              <a:t>chế độ OT, tốc độ tăng lương, quy trình quản lý cứng nhắc.</a:t>
            </a:r>
          </a:p>
        </p:txBody>
      </p:sp>
      <p:sp>
        <p:nvSpPr>
          <p:cNvPr id="33" name="Oval 32"/>
          <p:cNvSpPr/>
          <p:nvPr/>
        </p:nvSpPr>
        <p:spPr>
          <a:xfrm>
            <a:off x="7991856" y="4261104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74736" y="4206240"/>
            <a:ext cx="3429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So sánh giữa doanh nghiệp: </a:t>
            </a:r>
            <a:r>
              <a:rPr sz="1200" b="0">
                <a:solidFill>
                  <a:srgbClr val="A0ADBF"/>
                </a:solidFill>
                <a:latin typeface="Segoe UI"/>
              </a:rPr>
              <a:t>FPT Software và NashTech có tỷ lệ hài lòng khác biệt rõ theo từng khía cạnh.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5 · TRIỂN KHAI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Ứng dụng Web Demo — Streamlit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11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6949440" cy="4343400"/>
          </a:xfrm>
          <a:prstGeom prst="rect">
            <a:avLst/>
          </a:prstGeom>
          <a:solidFill>
            <a:srgbClr val="0C1119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618488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282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688"/>
                </a:solidFill>
                <a:latin typeface="Segoe UI"/>
              </a:rPr>
              <a:t>Tổng quan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1618488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17282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688"/>
                </a:solidFill>
                <a:latin typeface="Segoe UI"/>
              </a:rPr>
              <a:t>Khám phá dữ liệu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1618488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17282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688"/>
                </a:solidFill>
                <a:latin typeface="Segoe UI"/>
              </a:rPr>
              <a:t>Company Insights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1618488"/>
            <a:ext cx="1645920" cy="457200"/>
          </a:xfrm>
          <a:prstGeom prst="rect">
            <a:avLst/>
          </a:prstGeom>
          <a:solidFill>
            <a:srgbClr val="11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2020824"/>
            <a:ext cx="1645920" cy="27940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17282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1F5F9"/>
                </a:solidFill>
                <a:latin typeface="Segoe UI"/>
              </a:rPr>
              <a:t>Dự đoán Realtime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2286000"/>
            <a:ext cx="6400800" cy="86868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2377440"/>
            <a:ext cx="6035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688"/>
                </a:solidFill>
                <a:latin typeface="Segoe UI"/>
              </a:rPr>
              <a:t>NHẬP REVIEW CẦN PHÂN TÍCH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2633472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“Môi trường làm việc không được thân thiện, đồng nghiệp không hỗ trợ...”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337560"/>
            <a:ext cx="6400800" cy="1051560"/>
          </a:xfrm>
          <a:prstGeom prst="rect">
            <a:avLst/>
          </a:prstGeom>
          <a:solidFill>
            <a:srgbClr val="11161F"/>
          </a:solidFill>
          <a:ln w="12700">
            <a:solidFill>
              <a:srgbClr val="FF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4472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688"/>
                </a:solidFill>
                <a:latin typeface="Segoe UI"/>
              </a:rPr>
              <a:t>KẾT QUẢ DỰ ĐOÁN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72160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6677"/>
                </a:solidFill>
                <a:latin typeface="Segoe UI"/>
              </a:rPr>
              <a:t>TIÊU CỰC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447288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71.1%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087368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688"/>
                </a:solidFill>
                <a:latin typeface="Segoe UI"/>
              </a:rPr>
              <a:t>độ tin cậy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526280"/>
            <a:ext cx="6400800" cy="5029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6451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○ Mô hình 1: Text-only (5.000)      ● Mô hình 2: Text + Lexicon (5.005)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1508760"/>
            <a:ext cx="41148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80960" y="1508760"/>
            <a:ext cx="411480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1655064"/>
            <a:ext cx="3749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4 phân hệ chức năng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8" y="2075688"/>
            <a:ext cx="73152" cy="77724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5008" y="207568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Tổng quan dự án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8" y="23500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A0ADBF"/>
                </a:solidFill>
                <a:latin typeface="Segoe UI"/>
              </a:rPr>
              <a:t>Giới thiệu pipeline, số liệu tổng hợp toàn hệ thống.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2990088"/>
            <a:ext cx="73152" cy="7772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5008" y="299008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Khám phá dữ liệu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32644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A0ADBF"/>
                </a:solidFill>
                <a:latin typeface="Segoe UI"/>
              </a:rPr>
              <a:t>EDA tương tác: phân bố nhãn, độ dài văn bản, khía cạnh.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82128" y="3904488"/>
            <a:ext cx="73152" cy="777240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5008" y="390448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Phân tích doanh nghiệp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8" y="41788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A0ADBF"/>
                </a:solidFill>
                <a:latin typeface="Segoe UI"/>
              </a:rPr>
              <a:t>WordCloud &amp; thống kê cảm xúc theo từng công ty IT.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82128" y="4818888"/>
            <a:ext cx="73152" cy="777240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5008" y="481888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Dự đoán thời gian thực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5008" y="50932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A0ADBF"/>
                </a:solidFill>
                <a:latin typeface="Segoe UI"/>
              </a:rPr>
              <a:t>Nhập review, chọn mô hình, xem kết quả kèm giải thích XAI.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5 · EXPLAINABLE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Kiến trúc XAI thời gian thực — Giải thích quyết định mô hình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12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4864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486400" cy="4572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Feature Importance — trọng số TF-IDF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10312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không hỗ trợ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58568" y="2121408"/>
            <a:ext cx="2103120" cy="219456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3792" y="2084832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-0.82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2523744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không thân thiện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2455" y="2542032"/>
            <a:ext cx="1949233" cy="219456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3792" y="2505456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-0.76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294436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ít cơ hội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74116" y="2962656"/>
            <a:ext cx="1487572" cy="219456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3792" y="292608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-0.58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3364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học hỏi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3383280"/>
            <a:ext cx="564251" cy="219456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93792" y="3346704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+0.22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785616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đồng nghiệp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61688" y="3803904"/>
            <a:ext cx="307773" cy="219456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93792" y="376732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+0.12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1688" y="2103120"/>
            <a:ext cx="15240" cy="2103120"/>
          </a:xfrm>
          <a:prstGeom prst="rect">
            <a:avLst/>
          </a:prstGeom>
          <a:solidFill>
            <a:srgbClr val="2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34340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A0ADBF"/>
                </a:solidFill>
                <a:latin typeface="Segoe UI"/>
              </a:rPr>
              <a:t>Mỗi thanh thể hiện mức đóng góp của từ/cụm từ vào quyết định cuối cùng — âm (đỏ) kéo về Tiêu cực, dương (xanh) kéo về Tích cực.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508760"/>
            <a:ext cx="53492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1508760"/>
            <a:ext cx="534924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1655064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Vì sao cần XAI trong bài toán này?</a:t>
            </a:r>
          </a:p>
        </p:txBody>
      </p:sp>
      <p:sp>
        <p:nvSpPr>
          <p:cNvPr id="37" name="Oval 36"/>
          <p:cNvSpPr/>
          <p:nvPr/>
        </p:nvSpPr>
        <p:spPr>
          <a:xfrm>
            <a:off x="6528816" y="2157984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11696" y="210312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Minh bạch quyết định: </a:t>
            </a:r>
            <a:r>
              <a:rPr sz="1200" b="0">
                <a:solidFill>
                  <a:srgbClr val="A0ADBF"/>
                </a:solidFill>
                <a:latin typeface="Segoe UI"/>
              </a:rPr>
              <a:t>người dùng (ứng viên, HR) hiểu vì sao một review bị gán Tiêu cực/Tích cực.</a:t>
            </a:r>
          </a:p>
        </p:txBody>
      </p:sp>
      <p:sp>
        <p:nvSpPr>
          <p:cNvPr id="39" name="Oval 38"/>
          <p:cNvSpPr/>
          <p:nvPr/>
        </p:nvSpPr>
        <p:spPr>
          <a:xfrm>
            <a:off x="6528816" y="3054096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11696" y="299923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Bóc tách 3 cụm từ ảnh hưởng nhất: </a:t>
            </a:r>
            <a:r>
              <a:rPr sz="1200" b="0">
                <a:solidFill>
                  <a:srgbClr val="A0ADBF"/>
                </a:solidFill>
                <a:latin typeface="Segoe UI"/>
              </a:rPr>
              <a:t>hiển thị trực tiếp trên UI mỗi lần dự đoán realtime.</a:t>
            </a:r>
          </a:p>
        </p:txBody>
      </p:sp>
      <p:sp>
        <p:nvSpPr>
          <p:cNvPr id="41" name="Oval 40"/>
          <p:cNvSpPr/>
          <p:nvPr/>
        </p:nvSpPr>
        <p:spPr>
          <a:xfrm>
            <a:off x="6528816" y="3950208"/>
            <a:ext cx="82296" cy="82296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11696" y="3895344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Kiểm chứng Negation Scope: </a:t>
            </a:r>
            <a:r>
              <a:rPr sz="1200" b="0">
                <a:solidFill>
                  <a:srgbClr val="A0ADBF"/>
                </a:solidFill>
                <a:latin typeface="Segoe UI"/>
              </a:rPr>
              <a:t>XAI cho thấy rõ cụm phủ định đã đảo cực tính đúng theo kỳ vọng.</a:t>
            </a:r>
          </a:p>
        </p:txBody>
      </p:sp>
      <p:sp>
        <p:nvSpPr>
          <p:cNvPr id="43" name="Oval 42"/>
          <p:cNvSpPr/>
          <p:nvPr/>
        </p:nvSpPr>
        <p:spPr>
          <a:xfrm>
            <a:off x="6528816" y="4846320"/>
            <a:ext cx="82296" cy="82296"/>
          </a:xfrm>
          <a:prstGeom prst="ellipse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11696" y="4791456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Hỗ trợ debug mô hình: </a:t>
            </a:r>
            <a:r>
              <a:rPr sz="1200" b="0">
                <a:solidFill>
                  <a:srgbClr val="A0ADBF"/>
                </a:solidFill>
                <a:latin typeface="Segoe UI"/>
              </a:rPr>
              <a:t>phát hiện các từ khoá gây nhiễu, phục vụ cải tiến pipeline sau này.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6 · TỔNG KẾT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Đánh giá thực nghiệm, Bài học kinh nghiệm &amp; Hạn chế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13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3639312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3639312" cy="4572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3273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THÀNH TỰU ĐẠT ĐƯỢC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" y="2171700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2103120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Pipeline tiền xử lý tiếng Việt chuyên sâu, Negation Scope Detection, Greedy Matching 99.75%.</a:t>
            </a:r>
          </a:p>
        </p:txBody>
      </p:sp>
      <p:sp>
        <p:nvSpPr>
          <p:cNvPr id="19" name="Oval 18"/>
          <p:cNvSpPr/>
          <p:nvPr/>
        </p:nvSpPr>
        <p:spPr>
          <a:xfrm>
            <a:off x="704088" y="3140964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3072384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Stacking Ensemble đạt CV Macro F1 0.5619, benchmark chéo với ViSoBERT trên GPU.</a:t>
            </a:r>
          </a:p>
        </p:txBody>
      </p:sp>
      <p:sp>
        <p:nvSpPr>
          <p:cNvPr id="21" name="Oval 20"/>
          <p:cNvSpPr/>
          <p:nvPr/>
        </p:nvSpPr>
        <p:spPr>
          <a:xfrm>
            <a:off x="704088" y="3835908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3767328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Ablation Study khoa học: Text+Lexicon vượt Text-only, có kiểm soát Data Shortcut.</a:t>
            </a:r>
          </a:p>
        </p:txBody>
      </p:sp>
      <p:sp>
        <p:nvSpPr>
          <p:cNvPr id="23" name="Oval 22"/>
          <p:cNvSpPr/>
          <p:nvPr/>
        </p:nvSpPr>
        <p:spPr>
          <a:xfrm>
            <a:off x="704088" y="4805172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736592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Web App Streamlit realtime tích hợp XAI, 43/43 unit test pass.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1508760"/>
            <a:ext cx="3639312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9392" y="1508760"/>
            <a:ext cx="3639312" cy="45720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1655064"/>
            <a:ext cx="3273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BÀI HỌC KINH NGHIỆM</a:t>
            </a:r>
          </a:p>
        </p:txBody>
      </p:sp>
      <p:sp>
        <p:nvSpPr>
          <p:cNvPr id="28" name="Oval 27"/>
          <p:cNvSpPr/>
          <p:nvPr/>
        </p:nvSpPr>
        <p:spPr>
          <a:xfrm>
            <a:off x="4480560" y="2171700"/>
            <a:ext cx="82296" cy="82296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2103120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Mất cân bằng dữ liệu cần xử lý ở cả tầng đặc trưng và tầng đánh giá (Macro F1, không chỉ Accuracy).</a:t>
            </a:r>
          </a:p>
        </p:txBody>
      </p:sp>
      <p:sp>
        <p:nvSpPr>
          <p:cNvPr id="30" name="Oval 29"/>
          <p:cNvSpPr/>
          <p:nvPr/>
        </p:nvSpPr>
        <p:spPr>
          <a:xfrm>
            <a:off x="4480560" y="3140964"/>
            <a:ext cx="82296" cy="82296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0016" y="3072384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Tiền xử lý cho ML cổ điển và cho Transformer cần thiết kế khác nhau, không dùng chung 1 pipeline.</a:t>
            </a:r>
          </a:p>
        </p:txBody>
      </p:sp>
      <p:sp>
        <p:nvSpPr>
          <p:cNvPr id="32" name="Oval 31"/>
          <p:cNvSpPr/>
          <p:nvPr/>
        </p:nvSpPr>
        <p:spPr>
          <a:xfrm>
            <a:off x="4480560" y="4110228"/>
            <a:ext cx="82296" cy="82296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041648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Final Test chỉ nên mở khoá 1 lần — kỷ luật này giúp kết quả đáng tin cậy hơn.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5864" y="1508760"/>
            <a:ext cx="3639312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55864" y="1508760"/>
            <a:ext cx="3639312" cy="457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8744" y="1655064"/>
            <a:ext cx="3273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HẠN CHẾ HIỆN TẠI</a:t>
            </a:r>
          </a:p>
        </p:txBody>
      </p:sp>
      <p:sp>
        <p:nvSpPr>
          <p:cNvPr id="37" name="Oval 36"/>
          <p:cNvSpPr/>
          <p:nvPr/>
        </p:nvSpPr>
        <p:spPr>
          <a:xfrm>
            <a:off x="8257032" y="2171700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6488" y="2103120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Recall lớp Tiêu cực còn thấp (26–35%) do dữ liệu thiểu số nghiêm trọng (6.8%).</a:t>
            </a:r>
          </a:p>
        </p:txBody>
      </p:sp>
      <p:sp>
        <p:nvSpPr>
          <p:cNvPr id="39" name="Oval 38"/>
          <p:cNvSpPr/>
          <p:nvPr/>
        </p:nvSpPr>
        <p:spPr>
          <a:xfrm>
            <a:off x="8257032" y="2866644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76488" y="2798064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ViSoBERT mới ở zero-shot, chưa fine-tune đầy đủ trên domain review IT.</a:t>
            </a:r>
          </a:p>
        </p:txBody>
      </p:sp>
      <p:sp>
        <p:nvSpPr>
          <p:cNvPr id="41" name="Oval 40"/>
          <p:cNvSpPr/>
          <p:nvPr/>
        </p:nvSpPr>
        <p:spPr>
          <a:xfrm>
            <a:off x="8257032" y="3561588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76488" y="3493008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Chưa phân tích cảm xúc ở mức khía cạnh chi tiết (Aspect-Based).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6 · KẾT LUẬN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Hướng phát triển tương lai &amp; Lời cảm ơn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14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64008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640080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Hướng phát triển tương lai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2157984"/>
            <a:ext cx="91440" cy="91440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210312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Aspect-Based Sentiment Analysis (ABSA)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A0ADBF"/>
                </a:solidFill>
                <a:latin typeface="Segoe UI"/>
              </a:rPr>
              <a:t>Phân tích cảm xúc chi tiết theo từng khía cạnh (Lương, OT, Quản lý...) thay vì chỉ cảm xúc tổng thể.</a:t>
            </a:r>
          </a:p>
        </p:txBody>
      </p:sp>
      <p:sp>
        <p:nvSpPr>
          <p:cNvPr id="19" name="Oval 18"/>
          <p:cNvSpPr/>
          <p:nvPr/>
        </p:nvSpPr>
        <p:spPr>
          <a:xfrm>
            <a:off x="722376" y="3090672"/>
            <a:ext cx="91440" cy="91440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3035808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Fine-tuning toàn phần ViSoBERT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A0ADBF"/>
                </a:solidFill>
                <a:latin typeface="Segoe UI"/>
              </a:rPr>
              <a:t>Huấn luyện lại trên domain review IT tiếng Việt để khai thác tối đa năng lực Transformer.</a:t>
            </a:r>
          </a:p>
        </p:txBody>
      </p:sp>
      <p:sp>
        <p:nvSpPr>
          <p:cNvPr id="21" name="Oval 20"/>
          <p:cNvSpPr/>
          <p:nvPr/>
        </p:nvSpPr>
        <p:spPr>
          <a:xfrm>
            <a:off x="722376" y="4023360"/>
            <a:ext cx="91440" cy="91440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3968496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Ứng dụng LLM Agent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A0ADBF"/>
                </a:solidFill>
                <a:latin typeface="Segoe UI"/>
              </a:rPr>
              <a:t>Tự động tổng hợp báo cáo insight nhân sự theo thời gian thực cho từng doanh nghiệp.</a:t>
            </a:r>
          </a:p>
        </p:txBody>
      </p:sp>
      <p:sp>
        <p:nvSpPr>
          <p:cNvPr id="23" name="Oval 22"/>
          <p:cNvSpPr/>
          <p:nvPr/>
        </p:nvSpPr>
        <p:spPr>
          <a:xfrm>
            <a:off x="722376" y="4956048"/>
            <a:ext cx="91440" cy="91440"/>
          </a:xfrm>
          <a:prstGeom prst="ellipse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901184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Mở rộng dữ liệu đa nguồn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A0ADBF"/>
                </a:solidFill>
                <a:latin typeface="Segoe UI"/>
              </a:rPr>
              <a:t>Thu thập thêm review từ các nền tảng tuyển dụng khác để tăng độ bao phủ &amp; cân bằng lớp.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1508760"/>
            <a:ext cx="44348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86600" y="1508760"/>
            <a:ext cx="4434840" cy="54864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1783080"/>
            <a:ext cx="502920" cy="50292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71562" y="1893722"/>
            <a:ext cx="281635" cy="201168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31912" y="1974189"/>
            <a:ext cx="37719" cy="37719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12379" y="1974189"/>
            <a:ext cx="37719" cy="37719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92846" y="1974189"/>
            <a:ext cx="37719" cy="37719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2468880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AA7FF"/>
                </a:solidFill>
                <a:latin typeface="Segoe UI"/>
              </a:rPr>
              <a:t>LỜI CẢM ƠN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880360"/>
            <a:ext cx="3886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A0ADBF"/>
                </a:solidFill>
                <a:latin typeface="Segoe UI"/>
              </a:rPr>
              <a:t>Nhóm 4 xin chân thành cảm ơn Thầy Đặng Văn Thìn đã tận tình hướng dẫn, cùng Hội đồng đánh giá đã dành thời gian theo dõi phần trình bày của nhóm.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60920" y="4114800"/>
            <a:ext cx="3886200" cy="12700"/>
          </a:xfrm>
          <a:prstGeom prst="rect">
            <a:avLst/>
          </a:prstGeom>
          <a:solidFill>
            <a:srgbClr val="2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4297680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688"/>
                </a:solidFill>
                <a:latin typeface="Segoe UI"/>
              </a:rPr>
              <a:t>NHÓM 4 SẴN SÀNG BƯỚC VÀO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4636008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1F5F9"/>
                </a:solidFill>
                <a:latin typeface="Segoe UI"/>
              </a:rPr>
              <a:t>PHẦN HỎI ĐÁP (Q&amp;A)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5303520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0E3A4"/>
                </a:solidFill>
                <a:latin typeface="Segoe UI"/>
              </a:rPr>
              <a:t>Trân trọng cảm ơn!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